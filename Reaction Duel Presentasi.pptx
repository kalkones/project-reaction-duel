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1162B"/>
                </a:solidFill>
                <a:latin typeface="Arial"/>
              </a:defRPr>
            </a:pPr>
            <a:r>
              <a:rPr lang="it-IT" sz="1200" b="0" i="0" u="none" strike="noStrike">
                <a:solidFill>
                  <a:srgbClr val="11162B"/>
                </a:solidFill>
                <a:latin typeface="Arial"/>
              </a:rPr>
              <a:t>Ilustrasi Tren Waktu Reaksi per Sesi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Waktu Reaksi (ms)</c:v>
                </c:pt>
              </c:strCache>
            </c:strRef>
          </c:tx>
          <c:spPr>
            <a:ln w="38100" cap="flat">
              <a:solidFill>
                <a:srgbClr val="0EA89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A89A"/>
              </a:solidFill>
              <a:ln w="9525" cap="flat">
                <a:solidFill>
                  <a:srgbClr val="0EA89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420</c:v>
                </c:pt>
                <c:pt idx="1">
                  <c:v>390</c:v>
                </c:pt>
                <c:pt idx="2">
                  <c:v>360</c:v>
                </c:pt>
                <c:pt idx="3">
                  <c:v>345</c:v>
                </c:pt>
                <c:pt idx="4">
                  <c:v>330</c:v>
                </c:pt>
                <c:pt idx="5">
                  <c:v>320</c:v>
                </c:pt>
                <c:pt idx="6">
                  <c:v>315</c:v>
                </c:pt>
                <c:pt idx="7">
                  <c:v>312</c:v>
                </c:pt>
                <c:pt idx="8">
                  <c:v>318</c:v>
                </c:pt>
                <c:pt idx="9">
                  <c:v>335</c:v>
                </c:pt>
                <c:pt idx="10">
                  <c:v>360</c:v>
                </c:pt>
                <c:pt idx="11">
                  <c:v>395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F66-4CAB-ADAE-2AE22CBB75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7856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Pembukaan: perkenalkan diri tim, nama proyek Reaction Duel, dan satu kalimat positioning — game web multiplayer real-time yang sekaligus menjadi alat ukur refleks kognitif. Sebut singkat bahwa proyek memanfaatkan WebSocket, authoritative server, dan dashboard analitik.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masalah/motivasi: ingin membangun sistem real-time yang juga punya nilai riset kecil (psikologi kognitif). Tujuan proyek: implementasi teknis (WebSocket + authoritative server) dan nilai tambah analitik.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3 layer: frontend ringan (vanilla JS, tanpa framework berat), backend PHP murni untuk REST API plus PHP Ratchet khusus untuk koneksi WebSocket persisten, dan MySQL untuk penyimpanan permanen. Poin penting: migrasi dari Railway (cloud) ke localhost/LAN demi menghilangkan latensi, terutama untuk mode spectator.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3 jenis objek dan poinnya, lalu sebut 5 level kesulitan progresif. Tekankan konsep authoritative server: semua waktu reaksi divalidasi di server pakai UTC_TIMESTAMP, sehingga klien tidak bisa memanipulasi waktu klik (anti-cheat) — klik sebelum target muncul akan dideteksi sebagai TOO_EARLY.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Sampaikan 4 pilar fitur secara ringkas: room management dengan spectator mode, dua mode permainan (ranked dan VS AI), live chat berbasis WebSocket, serta sistem progresi (XP, level, leaderboard) yang menjaga retensi pemain.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grafik sebagai ilustrasi bentuk kurva, bukan data riil. Jelaskan dua metrik utama: Learning Effect (perbaikan di awal) dan Fatigue Effect (penurunan setelah &gt;20 sesi berturut-turut). Insight Engine memberi rekomendasi otomatis berbasis delta waktu reaksi, misalnya menyarankan istirahat.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Sampaikan tiga optimisasi konkret yang menunjukkan proses iterasi teknis tim: Delta Fetching untuk efisiensi data log, penghilangan delay 300ms pada perangkat seluler, dan sinkronisasi event round_end agar semua klien berpindah ronde di waktu yang sama persis.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ringkasan 4 poin pencapaian utama, lalu buka sesi tanya jawab. Siapkan diri untuk pertanyaan soal alasan migrasi dari cloud ke LAN dan cara kerja authoritative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572000" cy="4572000"/>
          </a:xfrm>
          <a:prstGeom prst="ellipse">
            <a:avLst/>
          </a:prstGeom>
          <a:solidFill>
            <a:srgbClr val="27E5C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3840480" cy="3840480"/>
          </a:xfrm>
          <a:prstGeom prst="ellipse">
            <a:avLst/>
          </a:prstGeom>
          <a:solidFill>
            <a:srgbClr val="FF3D7F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7E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 AKHIR — CLOUD COMPUTING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REACTION DUEL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Web Multiplayer Real-Time untuk Menguji Refleks Kognitif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121829"/>
          </a:solidFill>
          <a:ln w="12700">
            <a:solidFill>
              <a:srgbClr val="26315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105656"/>
            <a:ext cx="246888" cy="2468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39776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Ronde Dinamis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154680" y="3977640"/>
            <a:ext cx="2439619" cy="502920"/>
          </a:xfrm>
          <a:prstGeom prst="roundRect">
            <a:avLst>
              <a:gd name="adj" fmla="val 14545"/>
            </a:avLst>
          </a:prstGeom>
          <a:solidFill>
            <a:srgbClr val="121829"/>
          </a:solidFill>
          <a:ln w="12700">
            <a:solidFill>
              <a:srgbClr val="26315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410565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3977640"/>
            <a:ext cx="193669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Real-Time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822899" y="3977640"/>
            <a:ext cx="2271370" cy="502920"/>
          </a:xfrm>
          <a:prstGeom prst="roundRect">
            <a:avLst>
              <a:gd name="adj" fmla="val 14545"/>
            </a:avLst>
          </a:prstGeom>
          <a:solidFill>
            <a:srgbClr val="121829"/>
          </a:solidFill>
          <a:ln w="12700">
            <a:solidFill>
              <a:srgbClr val="26315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0059" y="4105656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80099" y="3977640"/>
            <a:ext cx="17684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Analitik Kognitif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Disusun oleh Tim Reaction Duel(Fairuz,Adam,Daffa,&amp;</a:t>
            </a:r>
            <a:r>
              <a:rPr lang="en-US" sz="1100" dirty="0" err="1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Ridho</a:t>
            </a: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DUEL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046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6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Mengapa Reaction Duel?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0EA89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1919143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74650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Refleks sebagai Inti Permainan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17320" y="2112264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Kecepatan reaksi terhadap objek dinamis menjadi mekanik utama, bukan sekadar fitur tambahan.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862072"/>
            <a:ext cx="566928" cy="566928"/>
          </a:xfrm>
          <a:prstGeom prst="ellipse">
            <a:avLst/>
          </a:prstGeom>
          <a:solidFill>
            <a:srgbClr val="0EA89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" y="2998135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825496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Kompetisi Real-Time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417320" y="3191256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Ranked memungkinkan dua pemain beradu refleks secara langsung dengan server sebagai wasit yang adil.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941064"/>
            <a:ext cx="566928" cy="566928"/>
          </a:xfrm>
          <a:prstGeom prst="ellipse">
            <a:avLst/>
          </a:prstGeom>
          <a:solidFill>
            <a:srgbClr val="0EA89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143" y="4077127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90448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Tambah Akademik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417320" y="4270248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sesi permainan dianalisis untuk memahami pola Learning Effect dan Fatigue Effect pemain.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9006840" y="1783080"/>
            <a:ext cx="2542032" cy="4160520"/>
          </a:xfrm>
          <a:prstGeom prst="roundRect">
            <a:avLst>
              <a:gd name="adj" fmla="val 3597"/>
            </a:avLst>
          </a:prstGeom>
          <a:solidFill>
            <a:srgbClr val="0B0F1A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9235440" y="199339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7E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9235440" y="2359152"/>
            <a:ext cx="21031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sistem real-time skala kecil berbasis WebSocket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otoritatif anti-cheat dengan validasi waktu UTC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analitik kognitif berbasis data riwayat bermain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DUEL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7E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SISTEM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589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Tech Stack &amp; Infrastruktur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383280" cy="2331720"/>
          </a:xfrm>
          <a:prstGeom prst="roundRect">
            <a:avLst>
              <a:gd name="adj" fmla="val 3922"/>
            </a:avLst>
          </a:prstGeom>
          <a:solidFill>
            <a:srgbClr val="121829"/>
          </a:solidFill>
          <a:ln w="12700">
            <a:solidFill>
              <a:srgbClr val="2631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84248"/>
            <a:ext cx="566928" cy="566928"/>
          </a:xfrm>
          <a:prstGeom prst="ellipse">
            <a:avLst/>
          </a:prstGeom>
          <a:solidFill>
            <a:srgbClr val="27E5C9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463" y="2120311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198424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2743200"/>
            <a:ext cx="2834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D7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Tailwind CSS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D7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JavaScript (ES6)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3400" y="1691640"/>
            <a:ext cx="3383280" cy="2331720"/>
          </a:xfrm>
          <a:prstGeom prst="roundRect">
            <a:avLst>
              <a:gd name="adj" fmla="val 3922"/>
            </a:avLst>
          </a:prstGeom>
          <a:solidFill>
            <a:srgbClr val="121829"/>
          </a:solidFill>
          <a:ln w="12700">
            <a:solidFill>
              <a:srgbClr val="2631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17720" y="1984248"/>
            <a:ext cx="566928" cy="566928"/>
          </a:xfrm>
          <a:prstGeom prst="ellipse">
            <a:avLst/>
          </a:prstGeom>
          <a:solidFill>
            <a:srgbClr val="FF3D7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3783" y="2120311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98424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17720" y="2743200"/>
            <a:ext cx="2834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D7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murni — api.php (HTTP)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D7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Ratchet — WebSocket real-time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46720" y="1691640"/>
            <a:ext cx="3383280" cy="2331720"/>
          </a:xfrm>
          <a:prstGeom prst="roundRect">
            <a:avLst>
              <a:gd name="adj" fmla="val 3922"/>
            </a:avLst>
          </a:prstGeom>
          <a:solidFill>
            <a:srgbClr val="121829"/>
          </a:solidFill>
          <a:ln w="12700">
            <a:solidFill>
              <a:srgbClr val="26315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21040" y="1984248"/>
            <a:ext cx="566928" cy="566928"/>
          </a:xfrm>
          <a:prstGeom prst="ellipse">
            <a:avLst/>
          </a:prstGeom>
          <a:solidFill>
            <a:srgbClr val="FFB84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7103" y="2120311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52560" y="198424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321040" y="2743200"/>
            <a:ext cx="2834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D7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melalui PDO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D7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untuk visualisasi data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40080" y="434340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121829"/>
          </a:solidFill>
          <a:ln/>
        </p:spPr>
      </p:sp>
      <p:sp>
        <p:nvSpPr>
          <p:cNvPr id="22" name="Shape 17"/>
          <p:cNvSpPr/>
          <p:nvPr/>
        </p:nvSpPr>
        <p:spPr>
          <a:xfrm>
            <a:off x="914400" y="4617720"/>
            <a:ext cx="868680" cy="86868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1570" y="4834890"/>
            <a:ext cx="434340" cy="4343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011680" y="4480560"/>
            <a:ext cx="9281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Migrasi Infrastruktur: Cloud → Local Area Network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WebSocket dan basis data yang awalnya berjalan di Railway dipindahkan sepenuhnya ke jaringan lokal (LAN/localhost) untuk menghilangkan latensi jaringan — krusial bagi akurasi Mode Penonton (Spectator) yang merender posisi semua pemain secara real-time.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DUEL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MEKANIK PERMAINAN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0467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6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Sistem Penilaian &amp; Objek Dinamis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246120" cy="18288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039112"/>
            <a:ext cx="548640" cy="548640"/>
          </a:xfrm>
          <a:prstGeom prst="ellipse">
            <a:avLst/>
          </a:prstGeom>
          <a:solidFill>
            <a:srgbClr val="0EA89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86" y="2170786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514600" y="19842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E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96112" y="2697480"/>
            <a:ext cx="2734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Hijau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96112" y="301752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Memicu / melanjutkan indeks Combo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06240" y="1783080"/>
            <a:ext cx="3246120" cy="18288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62272" y="2039112"/>
            <a:ext cx="548640" cy="548640"/>
          </a:xfrm>
          <a:prstGeom prst="ellipse">
            <a:avLst/>
          </a:prstGeom>
          <a:solidFill>
            <a:srgbClr val="C9941E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3946" y="2170786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080760" y="19842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99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+250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462272" y="2697480"/>
            <a:ext cx="2734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Berlian Emas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4462272" y="301752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instan, waktu despawn sangat singkat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772400" y="1783080"/>
            <a:ext cx="3246120" cy="18288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28432" y="2039112"/>
            <a:ext cx="548640" cy="548640"/>
          </a:xfrm>
          <a:prstGeom prst="ellipse">
            <a:avLst/>
          </a:prstGeom>
          <a:solidFill>
            <a:srgbClr val="FF3D7F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0106" y="2170786"/>
            <a:ext cx="285293" cy="28529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646920" y="19842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3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-50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8028432" y="2697480"/>
            <a:ext cx="2734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8028432" y="301752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Mereset indeks Combo kembali ke 0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40080" y="3886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E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RONDE — TINGKAT KESULITAN DINAMIS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40080" y="4224528"/>
            <a:ext cx="1417320" cy="502920"/>
          </a:xfrm>
          <a:prstGeom prst="roundRect">
            <a:avLst>
              <a:gd name="adj" fmla="val 49091"/>
            </a:avLst>
          </a:prstGeom>
          <a:solidFill>
            <a:srgbClr val="0B0F1A"/>
          </a:solidFill>
          <a:ln/>
        </p:spPr>
      </p:sp>
      <p:sp>
        <p:nvSpPr>
          <p:cNvPr id="26" name="Text 21"/>
          <p:cNvSpPr/>
          <p:nvPr/>
        </p:nvSpPr>
        <p:spPr>
          <a:xfrm>
            <a:off x="640080" y="422452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2221992" y="4224528"/>
            <a:ext cx="1417320" cy="502920"/>
          </a:xfrm>
          <a:prstGeom prst="roundRect">
            <a:avLst>
              <a:gd name="adj" fmla="val 49091"/>
            </a:avLst>
          </a:prstGeom>
          <a:solidFill>
            <a:srgbClr val="0B0F1A"/>
          </a:solidFill>
          <a:ln/>
        </p:spPr>
      </p:sp>
      <p:sp>
        <p:nvSpPr>
          <p:cNvPr id="28" name="Text 23"/>
          <p:cNvSpPr/>
          <p:nvPr/>
        </p:nvSpPr>
        <p:spPr>
          <a:xfrm>
            <a:off x="2221992" y="422452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3803904" y="4224528"/>
            <a:ext cx="1417320" cy="502920"/>
          </a:xfrm>
          <a:prstGeom prst="roundRect">
            <a:avLst>
              <a:gd name="adj" fmla="val 49091"/>
            </a:avLst>
          </a:prstGeom>
          <a:solidFill>
            <a:srgbClr val="0B0F1A"/>
          </a:solidFill>
          <a:ln/>
        </p:spPr>
      </p:sp>
      <p:sp>
        <p:nvSpPr>
          <p:cNvPr id="30" name="Text 25"/>
          <p:cNvSpPr/>
          <p:nvPr/>
        </p:nvSpPr>
        <p:spPr>
          <a:xfrm>
            <a:off x="3803904" y="422452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5385816" y="4224528"/>
            <a:ext cx="1417320" cy="502920"/>
          </a:xfrm>
          <a:prstGeom prst="roundRect">
            <a:avLst>
              <a:gd name="adj" fmla="val 49091"/>
            </a:avLst>
          </a:prstGeom>
          <a:solidFill>
            <a:srgbClr val="0B0F1A"/>
          </a:solidFill>
          <a:ln/>
        </p:spPr>
      </p:sp>
      <p:sp>
        <p:nvSpPr>
          <p:cNvPr id="32" name="Text 27"/>
          <p:cNvSpPr/>
          <p:nvPr/>
        </p:nvSpPr>
        <p:spPr>
          <a:xfrm>
            <a:off x="5385816" y="422452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6967728" y="4224528"/>
            <a:ext cx="1417320" cy="502920"/>
          </a:xfrm>
          <a:prstGeom prst="roundRect">
            <a:avLst>
              <a:gd name="adj" fmla="val 49091"/>
            </a:avLst>
          </a:prstGeom>
          <a:solidFill>
            <a:srgbClr val="FF3D7F"/>
          </a:solidFill>
          <a:ln/>
        </p:spPr>
      </p:sp>
      <p:sp>
        <p:nvSpPr>
          <p:cNvPr id="34" name="Text 29"/>
          <p:cNvSpPr/>
          <p:nvPr/>
        </p:nvSpPr>
        <p:spPr>
          <a:xfrm>
            <a:off x="6967728" y="422452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640080" y="507492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0B0F1A"/>
          </a:solidFill>
          <a:ln/>
        </p:spPr>
      </p:sp>
      <p:sp>
        <p:nvSpPr>
          <p:cNvPr id="36" name="Shape 31"/>
          <p:cNvSpPr/>
          <p:nvPr/>
        </p:nvSpPr>
        <p:spPr>
          <a:xfrm>
            <a:off x="868680" y="5248656"/>
            <a:ext cx="658368" cy="658368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2" y="5413248"/>
            <a:ext cx="329184" cy="329184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1691640" y="5138928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Server &amp; Anti-Cheat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perhitungan waktu direkam server menggunakan UTC_TIMESTAMP(). Klik yang terjadi sebelum target muncul (TOO_EARLY) otomatis dikenai penalti waktu/poin.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DUEL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7E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UTAMA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5895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Room, Mode, Sosial &amp; Progresi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121829"/>
          </a:solidFill>
          <a:ln w="12700">
            <a:solidFill>
              <a:srgbClr val="2631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034540"/>
            <a:ext cx="685800" cy="685800"/>
          </a:xfrm>
          <a:prstGeom prst="ellipse">
            <a:avLst/>
          </a:prstGeom>
          <a:solidFill>
            <a:srgbClr val="0EA89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562" y="2205990"/>
            <a:ext cx="342900" cy="3429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18928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Management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737360" y="225856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Matchmaking publik, kamar privat via ID, dan Mode Penonton (Spectator) real-time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121829"/>
          </a:solidFill>
          <a:ln w="12700">
            <a:solidFill>
              <a:srgbClr val="2631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19672" y="2034540"/>
            <a:ext cx="685800" cy="685800"/>
          </a:xfrm>
          <a:prstGeom prst="ellipse">
            <a:avLst/>
          </a:prstGeom>
          <a:solidFill>
            <a:srgbClr val="FF3D7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1122" y="2205990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60920" y="18928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Mode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7360920" y="225856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(Multiplayer) dan Latihan VS AI dengan 3 level kesulitan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3355848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121829"/>
          </a:solidFill>
          <a:ln w="12700">
            <a:solidFill>
              <a:srgbClr val="26315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96112" y="3698748"/>
            <a:ext cx="685800" cy="68580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562" y="3870198"/>
            <a:ext cx="342900" cy="3429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37360" y="355701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Live Chat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1737360" y="3922776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Obrolan waktu nyata antar pemain memanfaatkan koneksi WebSocket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63640" y="3355848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121829"/>
          </a:solidFill>
          <a:ln w="12700">
            <a:solidFill>
              <a:srgbClr val="26315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519672" y="3698748"/>
            <a:ext cx="685800" cy="685800"/>
          </a:xfrm>
          <a:prstGeom prst="ellipse">
            <a:avLst/>
          </a:prstGeom>
          <a:solidFill>
            <a:srgbClr val="FFB840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1122" y="3870198"/>
            <a:ext cx="342900" cy="3429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60920" y="355701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Progresi Akun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7360920" y="3922776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XP, leveling akun, dan Leaderboard global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DUEL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DASBOR ANALITIK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0467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6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Insight Psikologi Kognitif Pemain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783080"/>
          <a:ext cx="603504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949440" y="1783080"/>
            <a:ext cx="502920" cy="502920"/>
          </a:xfrm>
          <a:prstGeom prst="ellipse">
            <a:avLst/>
          </a:prstGeom>
          <a:solidFill>
            <a:srgbClr val="0EA89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170" y="1908810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89520" y="1783080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Effect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reaksi membaik di sesi-sesi awal seiring adaptasi pemain terhadap pola permainan.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949440" y="2743200"/>
            <a:ext cx="502920" cy="502920"/>
          </a:xfrm>
          <a:prstGeom prst="ellipse">
            <a:avLst/>
          </a:prstGeom>
          <a:solidFill>
            <a:srgbClr val="FF3D7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5170" y="2868930"/>
            <a:ext cx="251460" cy="2514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589520" y="2743200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Effect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Konsistensi dan kecepatan refleks menurun setelah bermain lebih dari 20 sesi berturut-turut.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949440" y="3794760"/>
            <a:ext cx="4617720" cy="1051560"/>
          </a:xfrm>
          <a:prstGeom prst="roundRect">
            <a:avLst>
              <a:gd name="adj" fmla="val 8696"/>
            </a:avLst>
          </a:prstGeom>
          <a:solidFill>
            <a:srgbClr val="0B0F1A"/>
          </a:solidFill>
          <a:ln/>
        </p:spPr>
      </p:sp>
      <p:sp>
        <p:nvSpPr>
          <p:cNvPr id="14" name="Shape 9"/>
          <p:cNvSpPr/>
          <p:nvPr/>
        </p:nvSpPr>
        <p:spPr>
          <a:xfrm>
            <a:off x="7150608" y="3977640"/>
            <a:ext cx="566928" cy="566928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2340" y="4119372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863840" y="391363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Engine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otomatis (mis. “waktunya istirahat”) saat delta waktu reaksi menunjukkan penurunan tajam.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640080" y="502920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Catatan: data pada grafik bersifat ilustratif untuk menunjukkan bentuk pola, bukan data riil pengguna.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DUEL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7E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OPTIMALISASI TEKNIS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5895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Tantangan &amp; Penyelesaiannya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121829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029968"/>
            <a:ext cx="749808" cy="749808"/>
          </a:xfrm>
          <a:prstGeom prst="ellipse">
            <a:avLst/>
          </a:prstGeom>
          <a:solidFill>
            <a:srgbClr val="0EA89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" y="2217420"/>
            <a:ext cx="374904" cy="374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1947672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Fetching pada Log Game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828800" y="2313432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mengirim data perubahan (bukan seluruh log), mencegah lonjakan beban data dan lag di ronde-ronde akhir.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32004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121829"/>
          </a:solidFill>
          <a:ln/>
        </p:spPr>
      </p:sp>
      <p:sp>
        <p:nvSpPr>
          <p:cNvPr id="12" name="Shape 9"/>
          <p:cNvSpPr/>
          <p:nvPr/>
        </p:nvSpPr>
        <p:spPr>
          <a:xfrm>
            <a:off x="868680" y="3447288"/>
            <a:ext cx="749808" cy="749808"/>
          </a:xfrm>
          <a:prstGeom prst="ellipse">
            <a:avLst/>
          </a:prstGeom>
          <a:solidFill>
            <a:srgbClr val="FF3D7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" y="3634740"/>
            <a:ext cx="374904" cy="3749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28800" y="3364992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Penghapusan Delay Sentuh 300ms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828800" y="3730752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properti CSS touch-action: manipulation agar input di peramban seluler terasa instan.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461772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121829"/>
          </a:solidFill>
          <a:ln/>
        </p:spPr>
      </p:sp>
      <p:sp>
        <p:nvSpPr>
          <p:cNvPr id="17" name="Shape 13"/>
          <p:cNvSpPr/>
          <p:nvPr/>
        </p:nvSpPr>
        <p:spPr>
          <a:xfrm>
            <a:off x="868680" y="4864608"/>
            <a:ext cx="749808" cy="749808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32" y="5052060"/>
            <a:ext cx="374904" cy="374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28800" y="4782312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Sinkronisasi Pergantian Ronde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828800" y="5148072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mengirim event round_end melalui WebSocket sehingga seluruh klien berpindah ronde secara serentak.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FF3D7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27E5C9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7E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Reaction Duel: Arena Refleks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dengan Fondasi Teknis Solid</a:t>
            </a:r>
            <a:endParaRPr lang="en-US" sz="3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4261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6060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real-time berbasis WebSocket dengan server otoritatif anti-cheat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172968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313639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Migrasi ke LAN/localhost berhasil menghilangkan latensi mode Spectator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03320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3666744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analitik kognitif (Learning &amp; Fatigue Effect) bernilai akademik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233672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5880" y="4197096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optimisasi performa terverifikasi: Delta Fetching, touch delay, sinkronisasi ronde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777240" y="5989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— Mohon arahan &amp; masukan </a:t>
            </a:r>
            <a:r>
              <a:rPr lang="en-US" sz="1400" i="1" dirty="0" err="1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</a:t>
            </a:r>
            <a:r>
              <a:rPr lang="en-US" sz="1400" i="1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Bapak Dosen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929</Words>
  <Application>Microsoft Office PowerPoint</Application>
  <PresentationFormat>Widescreen</PresentationFormat>
  <Paragraphs>115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Reaction Duel - Sidang Proyek Cloud Computing</dc:title>
  <dc:subject>PptxGenJS Presentation</dc:subject>
  <dc:creator>Tim Reaction Duel</dc:creator>
  <cp:lastModifiedBy>daffa fadillah</cp:lastModifiedBy>
  <cp:revision>2</cp:revision>
  <dcterms:created xsi:type="dcterms:W3CDTF">2026-06-24T18:46:41Z</dcterms:created>
  <dcterms:modified xsi:type="dcterms:W3CDTF">2026-06-24T18:50:04Z</dcterms:modified>
</cp:coreProperties>
</file>